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4040" y="971918"/>
            <a:ext cx="7983917" cy="14209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  <a:latin typeface="Arial"/>
              </a:defRPr>
            </a:pPr>
            <a:r>
              <a:rPr lang="en-IN" sz="5400" dirty="0"/>
              <a:t>FedShield-ID</a:t>
            </a:r>
          </a:p>
          <a:p>
            <a:pPr algn="ctr">
              <a:spcBef>
                <a:spcPts val="1000"/>
              </a:spcBef>
              <a:defRPr sz="2200">
                <a:solidFill>
                  <a:srgbClr val="F8FAFC"/>
                </a:solidFill>
                <a:latin typeface="Arial"/>
              </a:defRPr>
            </a:pPr>
            <a:r>
              <a:rPr sz="2400" dirty="0"/>
              <a:t>Privacy-First Identity Trust Platform for Banking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28335" y="2763848"/>
            <a:ext cx="6577781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Arial"/>
              </a:defRPr>
            </a:pPr>
            <a:r>
              <a:rPr sz="1600" dirty="0"/>
              <a:t>Hackathon Pitch Deck  |  2</a:t>
            </a:r>
            <a:r>
              <a:rPr lang="en-IN" sz="1600" dirty="0"/>
              <a:t>1</a:t>
            </a:r>
            <a:r>
              <a:rPr sz="1600" dirty="0"/>
              <a:t>July 2026</a:t>
            </a:r>
            <a:endParaRPr lang="en-IN" sz="1600" dirty="0"/>
          </a:p>
          <a:p>
            <a:pPr algn="ctr">
              <a:defRPr sz="1400" b="1">
                <a:solidFill>
                  <a:srgbClr val="C084FC"/>
                </a:solidFill>
                <a:latin typeface="Arial"/>
              </a:defRPr>
            </a:pPr>
            <a:endParaRPr sz="1600" dirty="0"/>
          </a:p>
          <a:p>
            <a:r>
              <a:rPr dirty="0">
                <a:solidFill>
                  <a:schemeClr val="bg1"/>
                </a:solidFill>
              </a:rPr>
              <a:t>Topic: Cybersecurity &amp; Privacy-Preserving AI in Financial </a:t>
            </a:r>
            <a:r>
              <a:rPr lang="en-IN" dirty="0">
                <a:solidFill>
                  <a:schemeClr val="bg1"/>
                </a:solidFill>
              </a:rPr>
              <a:t>T</a:t>
            </a:r>
            <a:r>
              <a:rPr dirty="0" err="1">
                <a:solidFill>
                  <a:schemeClr val="bg1"/>
                </a:solidFill>
              </a:rPr>
              <a:t>ech</a:t>
            </a:r>
            <a:endParaRPr lang="en-IN" dirty="0">
              <a:solidFill>
                <a:schemeClr val="bg1"/>
              </a:solidFill>
            </a:endParaRPr>
          </a:p>
          <a:p>
            <a:pPr algn="ctr"/>
            <a:br>
              <a:rPr dirty="0"/>
            </a:br>
            <a:r>
              <a:rPr lang="en-IN" b="1" dirty="0">
                <a:solidFill>
                  <a:schemeClr val="bg1"/>
                </a:solidFill>
              </a:rPr>
              <a:t>Presented By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Yash Gaikwad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i="1" dirty="0">
                <a:solidFill>
                  <a:schemeClr val="bg1"/>
                </a:solidFill>
              </a:rPr>
              <a:t>Research, Documentation &amp; Presentation Lead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Kamran Alam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i="1" dirty="0">
                <a:solidFill>
                  <a:schemeClr val="bg1"/>
                </a:solidFill>
              </a:rPr>
              <a:t>UI/UX Engineer &amp; Frontend Enhancement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Mohd. Amaan Hamid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i="1" dirty="0">
                <a:solidFill>
                  <a:schemeClr val="bg1"/>
                </a:solidFill>
              </a:rPr>
              <a:t>AI/ML Architect, Full-Stack Developer &amp; Team Lead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endParaRPr dirty="0"/>
          </a:p>
        </p:txBody>
      </p:sp>
      <p:pic>
        <p:nvPicPr>
          <p:cNvPr id="4" name="Picture 3" descr="Indian Institutes of Technology- IIT Gandhinagar 2026– Courses, Admission,  Fees, Placements, Ranking, Campus, Scholarships &amp; Reviews">
            <a:extLst>
              <a:ext uri="{FF2B5EF4-FFF2-40B4-BE49-F238E27FC236}">
                <a16:creationId xmlns:a16="http://schemas.microsoft.com/office/drawing/2014/main" id="{9D65BAEA-478B-20A3-8BF8-F5CA96746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618" y="0"/>
            <a:ext cx="1091381" cy="1091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03214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FEDSHIELD-ID  </a:t>
            </a:r>
            <a:r>
              <a:rPr lang="en-IN" dirty="0"/>
              <a:t>| </a:t>
            </a:r>
            <a:r>
              <a:rPr dirty="0"/>
              <a:t> </a:t>
            </a:r>
            <a:r>
              <a:rPr lang="en-IN" sz="1000" b="1" dirty="0"/>
              <a:t>PSB Hackathon Series 2026 – Cybersecurity &amp; Fraud Domain.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80557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D3EE"/>
                </a:solidFill>
                <a:latin typeface="Arial"/>
              </a:defRPr>
            </a:pPr>
            <a:r>
              <a:rPr dirty="0"/>
              <a:t>Problem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CONFIDENTIAL  |  PRIVACY-FIRST BANKING IDENTITY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6015" y="6309360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rPr sz="1600"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256" y="1648478"/>
            <a:ext cx="3732823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rPr dirty="0"/>
              <a:t>The Challenge in Banking Systems</a:t>
            </a:r>
          </a:p>
          <a:p>
            <a:r>
              <a:rPr lang="en-IN" sz="1400" dirty="0"/>
              <a:t>🔒 </a:t>
            </a:r>
            <a:r>
              <a:rPr lang="en-IN" sz="1400" b="1" dirty="0">
                <a:solidFill>
                  <a:schemeClr val="bg1"/>
                </a:solidFill>
              </a:rPr>
              <a:t>Identity Silos &amp; Centralized Data</a:t>
            </a:r>
          </a:p>
          <a:p>
            <a:r>
              <a:rPr lang="en-IN" sz="1400" dirty="0">
                <a:solidFill>
                  <a:schemeClr val="bg1"/>
                </a:solidFill>
              </a:rPr>
              <a:t>Centralized customer data increases breach risks and regulatory compliance challenges.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⚠️ Synthetic Identity &amp; Account Takeover</a:t>
            </a:r>
          </a:p>
          <a:p>
            <a:r>
              <a:rPr lang="en-IN" sz="1400" dirty="0">
                <a:solidFill>
                  <a:schemeClr val="bg1"/>
                </a:solidFill>
              </a:rPr>
              <a:t>Synthetic identities, credential theft, and SIM-swap attacks enable unauthorized account access.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🤖 Automated Credential Attacks</a:t>
            </a:r>
          </a:p>
          <a:p>
            <a:r>
              <a:rPr lang="en-IN" sz="1400" dirty="0">
                <a:solidFill>
                  <a:schemeClr val="bg1"/>
                </a:solidFill>
              </a:rPr>
              <a:t>Bots perform credential stuffing and automated logins, bypassing traditional authentication mechanisms.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6240" y="1632075"/>
            <a:ext cx="3655050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rPr dirty="0"/>
              <a:t>The </a:t>
            </a:r>
            <a:r>
              <a:rPr dirty="0" err="1"/>
              <a:t>FedShield</a:t>
            </a:r>
            <a:r>
              <a:rPr dirty="0"/>
              <a:t>-ID Approach</a:t>
            </a:r>
          </a:p>
          <a:p>
            <a:r>
              <a:rPr lang="en-IN" sz="1400" dirty="0">
                <a:solidFill>
                  <a:schemeClr val="bg1"/>
                </a:solidFill>
              </a:rPr>
              <a:t>🧠 </a:t>
            </a:r>
            <a:r>
              <a:rPr lang="en-IN" sz="1400" b="1" dirty="0">
                <a:solidFill>
                  <a:schemeClr val="bg1"/>
                </a:solidFill>
              </a:rPr>
              <a:t>Privacy-Preserving AI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Federated Learning + Differential Privacy enable collaborative AI without sharing customer data.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🎯 </a:t>
            </a:r>
            <a:r>
              <a:rPr lang="en-IN" sz="1400" b="1" dirty="0">
                <a:solidFill>
                  <a:schemeClr val="bg1"/>
                </a:solidFill>
              </a:rPr>
              <a:t>Continuous Identity Trust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Generates a real-time </a:t>
            </a:r>
            <a:r>
              <a:rPr lang="en-IN" sz="1400" b="1" dirty="0">
                <a:solidFill>
                  <a:schemeClr val="bg1"/>
                </a:solidFill>
              </a:rPr>
              <a:t>Trust Score (0–100)</a:t>
            </a:r>
            <a:r>
              <a:rPr lang="en-IN" sz="1400" dirty="0">
                <a:solidFill>
                  <a:schemeClr val="bg1"/>
                </a:solidFill>
              </a:rPr>
              <a:t> using </a:t>
            </a:r>
            <a:r>
              <a:rPr lang="en-IN" sz="1400" dirty="0" err="1">
                <a:solidFill>
                  <a:schemeClr val="bg1"/>
                </a:solidFill>
              </a:rPr>
              <a:t>behavioral</a:t>
            </a:r>
            <a:r>
              <a:rPr lang="en-IN" sz="1400" dirty="0">
                <a:solidFill>
                  <a:schemeClr val="bg1"/>
                </a:solidFill>
              </a:rPr>
              <a:t>, device, location, and transaction intelligence.</a:t>
            </a:r>
          </a:p>
          <a:p>
            <a:r>
              <a:rPr lang="en-IN" sz="1400" dirty="0">
                <a:solidFill>
                  <a:schemeClr val="bg1"/>
                </a:solidFill>
              </a:rPr>
              <a:t>🛡️ </a:t>
            </a:r>
            <a:r>
              <a:rPr lang="en-IN" sz="1400" b="1" dirty="0">
                <a:solidFill>
                  <a:schemeClr val="bg1"/>
                </a:solidFill>
              </a:rPr>
              <a:t>Adaptive Authentication</a:t>
            </a:r>
          </a:p>
          <a:p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Applies </a:t>
            </a:r>
            <a:r>
              <a:rPr lang="en-IN" sz="1400" b="1" dirty="0">
                <a:solidFill>
                  <a:schemeClr val="bg1"/>
                </a:solidFill>
              </a:rPr>
              <a:t>Allow, OTP, Face Verification, or Block</a:t>
            </a:r>
            <a:r>
              <a:rPr lang="en-IN" sz="1400" dirty="0">
                <a:solidFill>
                  <a:schemeClr val="bg1"/>
                </a:solidFill>
              </a:rPr>
              <a:t> based on the user's risk score for secure, frictionless access.</a:t>
            </a:r>
          </a:p>
          <a:p>
            <a:pPr>
              <a:spcAft>
                <a:spcPts val="1000"/>
              </a:spcAft>
            </a:pPr>
            <a:endParaRPr sz="1100" dirty="0">
              <a:solidFill>
                <a:srgbClr val="94A3B8"/>
              </a:solidFill>
              <a:latin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2C6B23-EEE8-6CF7-AC15-F7E9EFFAF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947969"/>
            <a:ext cx="4099247" cy="27339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03214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FEDSHIELD-ID  </a:t>
            </a:r>
            <a:r>
              <a:rPr lang="en-IN" dirty="0"/>
              <a:t>|</a:t>
            </a:r>
            <a:r>
              <a:rPr dirty="0"/>
              <a:t> </a:t>
            </a:r>
            <a:r>
              <a:rPr lang="en-IN" dirty="0"/>
              <a:t> </a:t>
            </a:r>
            <a:r>
              <a:rPr lang="en-IN" sz="1000" b="1" dirty="0"/>
              <a:t>PSB Hackathon Series 2026 – Cybersecurity &amp; Fraud Domain.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356540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D3EE"/>
                </a:solidFill>
                <a:latin typeface="Arial"/>
              </a:defRPr>
            </a:pPr>
            <a:r>
              <a:rPr dirty="0"/>
              <a:t>Technology &amp;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CONFIDENTIAL  |  PRIVACY-FIRST BANKING IDENTITY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6015" y="6309360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rPr sz="1600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132" y="1661849"/>
            <a:ext cx="3534919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2D3EE"/>
                </a:solidFill>
                <a:latin typeface="Arial"/>
              </a:defRPr>
            </a:pPr>
            <a:r>
              <a:rPr dirty="0"/>
              <a:t>System Architecture &amp; Tech Stack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⚙️ Backend &amp; API Layer</a:t>
            </a:r>
          </a:p>
          <a:p>
            <a:r>
              <a:rPr lang="en-IN" sz="1400" dirty="0" err="1">
                <a:solidFill>
                  <a:schemeClr val="bg1"/>
                </a:solidFill>
              </a:rPr>
              <a:t>FastAPI</a:t>
            </a:r>
            <a:r>
              <a:rPr lang="en-IN" sz="1400" dirty="0">
                <a:solidFill>
                  <a:schemeClr val="bg1"/>
                </a:solidFill>
              </a:rPr>
              <a:t> microservices with </a:t>
            </a:r>
            <a:r>
              <a:rPr lang="en-IN" sz="1400" b="1" dirty="0" err="1">
                <a:solidFill>
                  <a:schemeClr val="bg1"/>
                </a:solidFill>
              </a:rPr>
              <a:t>SQLAlchemy</a:t>
            </a:r>
            <a:r>
              <a:rPr lang="en-IN" sz="1400" dirty="0">
                <a:solidFill>
                  <a:schemeClr val="bg1"/>
                </a:solidFill>
              </a:rPr>
              <a:t> and </a:t>
            </a:r>
            <a:r>
              <a:rPr lang="en-IN" sz="1400" b="1" dirty="0">
                <a:solidFill>
                  <a:schemeClr val="bg1"/>
                </a:solidFill>
              </a:rPr>
              <a:t>PostgreSQL/SQLite</a:t>
            </a:r>
            <a:r>
              <a:rPr lang="en-IN" sz="1400" dirty="0">
                <a:solidFill>
                  <a:schemeClr val="bg1"/>
                </a:solidFill>
              </a:rPr>
              <a:t> for secure, scalable, API-first banking integration.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🧠 AI/ML &amp; Trust Intelligence</a:t>
            </a:r>
          </a:p>
          <a:p>
            <a:r>
              <a:rPr lang="en-IN" sz="1400" dirty="0">
                <a:solidFill>
                  <a:schemeClr val="bg1"/>
                </a:solidFill>
              </a:rPr>
              <a:t>Real-time identity risk assessment using </a:t>
            </a:r>
            <a:r>
              <a:rPr lang="en-IN" sz="1400" b="1" dirty="0">
                <a:solidFill>
                  <a:schemeClr val="bg1"/>
                </a:solidFill>
              </a:rPr>
              <a:t>Random Forest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sz="1400" b="1" dirty="0">
                <a:solidFill>
                  <a:schemeClr val="bg1"/>
                </a:solidFill>
              </a:rPr>
              <a:t>SGD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sz="1400" b="1" dirty="0">
                <a:solidFill>
                  <a:schemeClr val="bg1"/>
                </a:solidFill>
              </a:rPr>
              <a:t>Federated Learning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sz="1400" b="1" dirty="0">
                <a:solidFill>
                  <a:schemeClr val="bg1"/>
                </a:solidFill>
              </a:rPr>
              <a:t>Differential Privacy</a:t>
            </a:r>
            <a:r>
              <a:rPr lang="en-IN" sz="1400" dirty="0">
                <a:solidFill>
                  <a:schemeClr val="bg1"/>
                </a:solidFill>
              </a:rPr>
              <a:t>, and </a:t>
            </a:r>
            <a:r>
              <a:rPr lang="en-IN" sz="1400" b="1" dirty="0">
                <a:solidFill>
                  <a:schemeClr val="bg1"/>
                </a:solidFill>
              </a:rPr>
              <a:t>SHAP Explainability</a:t>
            </a:r>
            <a:r>
              <a:rPr lang="en-IN" sz="1400" dirty="0">
                <a:solidFill>
                  <a:schemeClr val="bg1"/>
                </a:solidFill>
              </a:rPr>
              <a:t>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📊 Interactive SOC Dashboard</a:t>
            </a:r>
          </a:p>
          <a:p>
            <a:r>
              <a:rPr lang="en-IN" sz="1400" dirty="0">
                <a:solidFill>
                  <a:schemeClr val="bg1"/>
                </a:solidFill>
              </a:rPr>
              <a:t>Built with </a:t>
            </a:r>
            <a:r>
              <a:rPr lang="en-IN" sz="1400" b="1" dirty="0">
                <a:solidFill>
                  <a:schemeClr val="bg1"/>
                </a:solidFill>
              </a:rPr>
              <a:t>React 18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sz="1400" b="1" dirty="0">
                <a:solidFill>
                  <a:schemeClr val="bg1"/>
                </a:solidFill>
              </a:rPr>
              <a:t>Tailwind CSS</a:t>
            </a:r>
            <a:r>
              <a:rPr lang="en-IN" sz="1400" dirty="0">
                <a:solidFill>
                  <a:schemeClr val="bg1"/>
                </a:solidFill>
              </a:rPr>
              <a:t>, and a </a:t>
            </a:r>
            <a:r>
              <a:rPr lang="en-IN" sz="1400" b="1" dirty="0">
                <a:solidFill>
                  <a:schemeClr val="bg1"/>
                </a:solidFill>
              </a:rPr>
              <a:t>Knowledge Graph</a:t>
            </a:r>
            <a:r>
              <a:rPr lang="en-IN" sz="1400" dirty="0">
                <a:solidFill>
                  <a:schemeClr val="bg1"/>
                </a:solidFill>
              </a:rPr>
              <a:t> for real-time trust monitoring and AI-powered forensic insights.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1761" y="1648200"/>
            <a:ext cx="3654454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084FC"/>
                </a:solidFill>
                <a:latin typeface="Arial"/>
              </a:defRPr>
            </a:pPr>
            <a:r>
              <a:rPr dirty="0"/>
              <a:t>Core Cryptography &amp; Telemetry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🔐 Post-Quantum Security</a:t>
            </a:r>
          </a:p>
          <a:p>
            <a:r>
              <a:rPr lang="en-IN" sz="1400" dirty="0">
                <a:solidFill>
                  <a:schemeClr val="bg1"/>
                </a:solidFill>
              </a:rPr>
              <a:t>CRYSTALS-Kyber-inspired secure key exchange for quantum-resilient inter-bank communication.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🛡️ Privacy-Preserving Intelligence</a:t>
            </a:r>
          </a:p>
          <a:p>
            <a:r>
              <a:rPr lang="en-IN" sz="1400" dirty="0">
                <a:solidFill>
                  <a:schemeClr val="bg1"/>
                </a:solidFill>
              </a:rPr>
              <a:t>Federated Learning with Differential Privacy enables collaborative AI without exposing customer data.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👤 </a:t>
            </a:r>
            <a:r>
              <a:rPr lang="en-IN" sz="1400" b="1" dirty="0" err="1">
                <a:solidFill>
                  <a:schemeClr val="bg1"/>
                </a:solidFill>
              </a:rPr>
              <a:t>Behavioral</a:t>
            </a:r>
            <a:r>
              <a:rPr lang="en-IN" sz="1400" b="1" dirty="0">
                <a:solidFill>
                  <a:schemeClr val="bg1"/>
                </a:solidFill>
              </a:rPr>
              <a:t> Biometrics</a:t>
            </a:r>
          </a:p>
          <a:p>
            <a:r>
              <a:rPr lang="en-IN" sz="1400" dirty="0">
                <a:solidFill>
                  <a:schemeClr val="bg1"/>
                </a:solidFill>
              </a:rPr>
              <a:t>Monitors typing </a:t>
            </a:r>
            <a:r>
              <a:rPr lang="en-IN" sz="1400" dirty="0" err="1">
                <a:solidFill>
                  <a:schemeClr val="bg1"/>
                </a:solidFill>
              </a:rPr>
              <a:t>behavior</a:t>
            </a:r>
            <a:r>
              <a:rPr lang="en-IN" sz="1400" dirty="0">
                <a:solidFill>
                  <a:schemeClr val="bg1"/>
                </a:solidFill>
              </a:rPr>
              <a:t>, mouse dynamics, and device telemetry to detect fraud and anomalous activity in real time.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2CD6BB-EFB5-C97A-B1E8-037FCDA75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2" t="4271" r="6205" b="6375"/>
          <a:stretch>
            <a:fillRect/>
          </a:stretch>
        </p:blipFill>
        <p:spPr>
          <a:xfrm>
            <a:off x="4198375" y="2271252"/>
            <a:ext cx="4062576" cy="276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06324"/>
            <a:ext cx="49968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FEDSHIELD-ID  </a:t>
            </a:r>
            <a:r>
              <a:rPr lang="en-IN" dirty="0"/>
              <a:t>|  </a:t>
            </a:r>
            <a:r>
              <a:rPr lang="en-IN" sz="1000" b="1" dirty="0"/>
              <a:t>PSB Hackathon Series 2026 – Cybersecurity &amp; Fraud Domain.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356059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D3EE"/>
                </a:solidFill>
                <a:latin typeface="Arial"/>
              </a:defRPr>
            </a:pPr>
            <a:r>
              <a:rPr dirty="0"/>
              <a:t>Scalability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CONFIDENTIAL  |  PRIVACY-FIRST BANKING IDENTITY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78307" y="6309360"/>
            <a:ext cx="3561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rPr lang="en-IN" sz="1600" dirty="0"/>
              <a:t> </a:t>
            </a:r>
            <a:r>
              <a:rPr sz="1600" dirty="0"/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4182"/>
            <a:ext cx="3220841" cy="3349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2D3EE"/>
                </a:solidFill>
                <a:latin typeface="Arial"/>
              </a:defRPr>
            </a:pPr>
            <a:r>
              <a:rPr dirty="0"/>
              <a:t>Ecosystem Integration &amp; Feasibility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🔄 Real-Time Integration</a:t>
            </a:r>
          </a:p>
          <a:p>
            <a:r>
              <a:rPr lang="en-IN" sz="1400" dirty="0">
                <a:solidFill>
                  <a:schemeClr val="bg1"/>
                </a:solidFill>
              </a:rPr>
              <a:t>Asynchronous telemetry ingestion for continuous </a:t>
            </a:r>
            <a:r>
              <a:rPr lang="en-IN" sz="1400" dirty="0" err="1">
                <a:solidFill>
                  <a:schemeClr val="bg1"/>
                </a:solidFill>
              </a:rPr>
              <a:t>behavioral</a:t>
            </a:r>
            <a:r>
              <a:rPr lang="en-IN" sz="1400" dirty="0">
                <a:solidFill>
                  <a:schemeClr val="bg1"/>
                </a:solidFill>
              </a:rPr>
              <a:t> monitoring.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⚡ High-Performance Trust Engine</a:t>
            </a:r>
          </a:p>
          <a:p>
            <a:r>
              <a:rPr lang="en-IN" sz="1400" dirty="0">
                <a:solidFill>
                  <a:schemeClr val="bg1"/>
                </a:solidFill>
              </a:rPr>
              <a:t>Low-latency AI inference with real-time Identity Trust Scoring.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☁️ Cloud-Ready Deployment</a:t>
            </a:r>
          </a:p>
          <a:p>
            <a:r>
              <a:rPr lang="en-IN" sz="1400" dirty="0">
                <a:solidFill>
                  <a:schemeClr val="bg1"/>
                </a:solidFill>
              </a:rPr>
              <a:t>Docker-based, scalable architecture for seamless cloud and enterprise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3918" y="1706706"/>
            <a:ext cx="3638846" cy="37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rPr dirty="0"/>
              <a:t>Platform Impact &amp; Scale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🔒 Privacy-First Banking</a:t>
            </a:r>
          </a:p>
          <a:p>
            <a:r>
              <a:rPr lang="en-IN" sz="1400" dirty="0">
                <a:solidFill>
                  <a:schemeClr val="bg1"/>
                </a:solidFill>
              </a:rPr>
              <a:t>Federated Learning enables privacy-preserving AI while supporting </a:t>
            </a:r>
            <a:r>
              <a:rPr lang="en-IN" sz="1400" b="1" dirty="0">
                <a:solidFill>
                  <a:schemeClr val="bg1"/>
                </a:solidFill>
              </a:rPr>
              <a:t>RBI</a:t>
            </a:r>
            <a:r>
              <a:rPr lang="en-IN" sz="1400" dirty="0">
                <a:solidFill>
                  <a:schemeClr val="bg1"/>
                </a:solidFill>
              </a:rPr>
              <a:t> and </a:t>
            </a:r>
            <a:r>
              <a:rPr lang="en-IN" sz="1400" b="1" dirty="0">
                <a:solidFill>
                  <a:schemeClr val="bg1"/>
                </a:solidFill>
              </a:rPr>
              <a:t>DPDP Act</a:t>
            </a:r>
            <a:r>
              <a:rPr lang="en-IN" sz="1400" dirty="0">
                <a:solidFill>
                  <a:schemeClr val="bg1"/>
                </a:solidFill>
              </a:rPr>
              <a:t> compliance.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⚡ AI-Powered Security Operations</a:t>
            </a:r>
          </a:p>
          <a:p>
            <a:r>
              <a:rPr lang="en-IN" sz="1400" dirty="0">
                <a:solidFill>
                  <a:schemeClr val="bg1"/>
                </a:solidFill>
              </a:rPr>
              <a:t>Explainable AI generates real-time risk insights and forensic summaries for faster investigations.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🌐 Enterprise Fraud Intelligence</a:t>
            </a:r>
          </a:p>
          <a:p>
            <a:r>
              <a:rPr lang="en-IN" sz="1400" dirty="0">
                <a:solidFill>
                  <a:schemeClr val="bg1"/>
                </a:solidFill>
              </a:rPr>
              <a:t>Knowledge Graph uncovers hidden relationships between accounts, devices, and suspicious activities.</a:t>
            </a:r>
          </a:p>
          <a:p>
            <a:endParaRPr lang="en-IN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8E9473-CA14-5000-1F02-822E3049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63" t="4317" r="5110" b="7380"/>
          <a:stretch>
            <a:fillRect/>
          </a:stretch>
        </p:blipFill>
        <p:spPr>
          <a:xfrm>
            <a:off x="3788082" y="2091813"/>
            <a:ext cx="4274369" cy="28137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03214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FEDSHIELD-ID</a:t>
            </a:r>
            <a:r>
              <a:rPr lang="en-IN" dirty="0"/>
              <a:t> </a:t>
            </a:r>
            <a:r>
              <a:rPr dirty="0"/>
              <a:t> </a:t>
            </a:r>
            <a:r>
              <a:rPr lang="en-IN" dirty="0"/>
              <a:t>|  </a:t>
            </a:r>
            <a:r>
              <a:rPr dirty="0"/>
              <a:t> </a:t>
            </a:r>
            <a:r>
              <a:rPr lang="en-IN" sz="1000" b="1" dirty="0"/>
              <a:t>PSB Hackathon Series 2026 – Cybersecurity &amp; Fraud Domain.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330891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D3EE"/>
                </a:solidFill>
                <a:latin typeface="Arial"/>
              </a:defRPr>
            </a:pPr>
            <a:r>
              <a:rPr dirty="0"/>
              <a:t>Team &amp; Execution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CONFIDENTIAL  |  PRIVACY-FIRST BANKING IDENTITY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6015" y="6309360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rPr sz="1600" dirty="0"/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03586"/>
            <a:ext cx="3731342" cy="374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084FC"/>
                </a:solidFill>
                <a:latin typeface="Arial"/>
              </a:defRPr>
            </a:pPr>
            <a:r>
              <a:rPr dirty="0"/>
              <a:t>Team Roles &amp; Structure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Mohd. Amaan Hamid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b="1" dirty="0">
                <a:solidFill>
                  <a:schemeClr val="bg1"/>
                </a:solidFill>
              </a:rPr>
              <a:t>AI/ML Architect, Full-Stack Developer &amp; Team Lead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i="1" dirty="0">
                <a:solidFill>
                  <a:schemeClr val="bg1"/>
                </a:solidFill>
              </a:rPr>
              <a:t>AI/ML Pipeline • Backend • Frontend • System Architecture • Security Integration</a:t>
            </a:r>
          </a:p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Yash Gaikwad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b="1" dirty="0">
                <a:solidFill>
                  <a:schemeClr val="bg1"/>
                </a:solidFill>
              </a:rPr>
              <a:t>Research, Documentation &amp; Presentation Lead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i="1" dirty="0">
                <a:solidFill>
                  <a:schemeClr val="bg1"/>
                </a:solidFill>
              </a:rPr>
              <a:t>Technical Research • Documentation • Presentation • Testing &amp; Validation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Kamran Alam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b="1" dirty="0">
                <a:solidFill>
                  <a:schemeClr val="bg1"/>
                </a:solidFill>
              </a:rPr>
              <a:t>UI/UX Engineer &amp; Frontend Enhancement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i="1" dirty="0">
                <a:solidFill>
                  <a:schemeClr val="bg1"/>
                </a:solidFill>
              </a:rPr>
              <a:t>React UI • Tailwind CSS • Dashboard Design • Usability Testing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68928" y="1657711"/>
            <a:ext cx="3923072" cy="418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2D3EE"/>
                </a:solidFill>
                <a:latin typeface="Arial"/>
              </a:defRPr>
            </a:pPr>
            <a:r>
              <a:rPr dirty="0"/>
              <a:t>Development Roadmap &amp; Milestones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✅ Milestone 1 – Prototype </a:t>
            </a:r>
            <a:r>
              <a:rPr lang="en-IN" sz="1400" b="1" i="1" dirty="0">
                <a:solidFill>
                  <a:schemeClr val="bg1"/>
                </a:solidFill>
              </a:rPr>
              <a:t>(Completed)</a:t>
            </a:r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3 Federated Banking Nodes </a:t>
            </a:r>
          </a:p>
          <a:p>
            <a:r>
              <a:rPr lang="en-IN" sz="1400" dirty="0">
                <a:solidFill>
                  <a:schemeClr val="bg1"/>
                </a:solidFill>
              </a:rPr>
              <a:t>Identity Trust Engine </a:t>
            </a:r>
          </a:p>
          <a:p>
            <a:r>
              <a:rPr lang="en-IN" sz="1400" dirty="0" err="1">
                <a:solidFill>
                  <a:schemeClr val="bg1"/>
                </a:solidFill>
              </a:rPr>
              <a:t>Behavioral</a:t>
            </a:r>
            <a:r>
              <a:rPr lang="en-IN" sz="1400" dirty="0">
                <a:solidFill>
                  <a:schemeClr val="bg1"/>
                </a:solidFill>
              </a:rPr>
              <a:t> Analytics &amp; Adaptive Authentication </a:t>
            </a:r>
          </a:p>
          <a:p>
            <a:r>
              <a:rPr lang="en-IN" sz="1400" dirty="0">
                <a:solidFill>
                  <a:schemeClr val="bg1"/>
                </a:solidFill>
              </a:rPr>
              <a:t>Federated Learning + DP + SHAP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🚀 Milestone 2 – Enterprise Pilot </a:t>
            </a:r>
            <a:r>
              <a:rPr lang="en-IN" sz="1400" b="1" i="1" dirty="0">
                <a:solidFill>
                  <a:schemeClr val="bg1"/>
                </a:solidFill>
              </a:rPr>
              <a:t>(Q3 2026)</a:t>
            </a:r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Cloud Deployment (Docker) </a:t>
            </a:r>
          </a:p>
          <a:p>
            <a:r>
              <a:rPr lang="en-IN" sz="1400" dirty="0">
                <a:solidFill>
                  <a:schemeClr val="bg1"/>
                </a:solidFill>
              </a:rPr>
              <a:t>Core Banking API Integration </a:t>
            </a:r>
          </a:p>
          <a:p>
            <a:r>
              <a:rPr lang="en-IN" sz="1400" dirty="0">
                <a:solidFill>
                  <a:schemeClr val="bg1"/>
                </a:solidFill>
              </a:rPr>
              <a:t>REST/</a:t>
            </a:r>
            <a:r>
              <a:rPr lang="en-IN" sz="1400" dirty="0" err="1">
                <a:solidFill>
                  <a:schemeClr val="bg1"/>
                </a:solidFill>
              </a:rPr>
              <a:t>gRPC</a:t>
            </a:r>
            <a:r>
              <a:rPr lang="en-IN" sz="1400" dirty="0">
                <a:solidFill>
                  <a:schemeClr val="bg1"/>
                </a:solidFill>
              </a:rPr>
              <a:t> Communication </a:t>
            </a:r>
          </a:p>
          <a:p>
            <a:r>
              <a:rPr lang="en-IN" sz="1400" dirty="0">
                <a:solidFill>
                  <a:schemeClr val="bg1"/>
                </a:solidFill>
              </a:rPr>
              <a:t>Real-Time Risk Monitoring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🌍 Milestone 3 – Production </a:t>
            </a:r>
            <a:r>
              <a:rPr lang="en-IN" sz="1400" b="1" i="1" dirty="0">
                <a:solidFill>
                  <a:schemeClr val="bg1"/>
                </a:solidFill>
              </a:rPr>
              <a:t>(Q4 2026)</a:t>
            </a:r>
            <a:endParaRPr lang="en-IN" sz="14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Post-Quantum Security (PQC) </a:t>
            </a:r>
          </a:p>
          <a:p>
            <a:r>
              <a:rPr lang="en-IN" sz="1400" dirty="0">
                <a:solidFill>
                  <a:schemeClr val="bg1"/>
                </a:solidFill>
              </a:rPr>
              <a:t>Continuous </a:t>
            </a:r>
            <a:r>
              <a:rPr lang="en-IN" sz="1400" dirty="0" err="1">
                <a:solidFill>
                  <a:schemeClr val="bg1"/>
                </a:solidFill>
              </a:rPr>
              <a:t>Behavioral</a:t>
            </a:r>
            <a:r>
              <a:rPr lang="en-IN" sz="1400" dirty="0">
                <a:solidFill>
                  <a:schemeClr val="bg1"/>
                </a:solidFill>
              </a:rPr>
              <a:t> Biometrics </a:t>
            </a:r>
          </a:p>
          <a:p>
            <a:r>
              <a:rPr lang="en-IN" sz="1400" dirty="0">
                <a:solidFill>
                  <a:schemeClr val="bg1"/>
                </a:solidFill>
              </a:rPr>
              <a:t>Multi-Bank Deployment </a:t>
            </a:r>
          </a:p>
          <a:p>
            <a:r>
              <a:rPr lang="en-IN" sz="1400" dirty="0">
                <a:solidFill>
                  <a:schemeClr val="bg1"/>
                </a:solidFill>
              </a:rPr>
              <a:t>RBI-Ready Enterprise Platform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4E14AD-6A69-482B-119D-F5001A120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732" y="2396466"/>
            <a:ext cx="4134229" cy="2757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9C4D7-7160-7D3C-D42E-0977620C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8A183-A883-CC19-E178-44202DEF544C}"/>
              </a:ext>
            </a:extLst>
          </p:cNvPr>
          <p:cNvSpPr/>
          <p:nvPr/>
        </p:nvSpPr>
        <p:spPr>
          <a:xfrm>
            <a:off x="457200" y="7315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C041B-AFCD-20B6-3666-632268272548}"/>
              </a:ext>
            </a:extLst>
          </p:cNvPr>
          <p:cNvSpPr txBox="1"/>
          <p:nvPr/>
        </p:nvSpPr>
        <p:spPr>
          <a:xfrm>
            <a:off x="457200" y="320040"/>
            <a:ext cx="503214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FEDSHIELD-ID</a:t>
            </a:r>
            <a:r>
              <a:rPr lang="en-IN" dirty="0"/>
              <a:t> </a:t>
            </a:r>
            <a:r>
              <a:rPr dirty="0"/>
              <a:t> </a:t>
            </a:r>
            <a:r>
              <a:rPr lang="en-IN" dirty="0"/>
              <a:t>|  </a:t>
            </a:r>
            <a:r>
              <a:rPr dirty="0"/>
              <a:t> </a:t>
            </a:r>
            <a:r>
              <a:rPr lang="en-IN" sz="1000" b="1" dirty="0"/>
              <a:t>PSB Hackathon Series 2026 – Cybersecurity &amp; Fraud Domain.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768E4-C3FB-7106-428B-15CE03198E74}"/>
              </a:ext>
            </a:extLst>
          </p:cNvPr>
          <p:cNvSpPr txBox="1"/>
          <p:nvPr/>
        </p:nvSpPr>
        <p:spPr>
          <a:xfrm>
            <a:off x="2317802" y="2037314"/>
            <a:ext cx="75560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rial"/>
              </a:defRPr>
            </a:pPr>
            <a:r>
              <a:rPr lang="en-US" sz="8800" dirty="0"/>
              <a:t>Thank  you</a:t>
            </a:r>
          </a:p>
          <a:p>
            <a:pPr algn="ctr">
              <a:defRPr sz="2200" b="1">
                <a:solidFill>
                  <a:srgbClr val="22D3EE"/>
                </a:solidFill>
                <a:latin typeface="Arial"/>
              </a:defRPr>
            </a:pPr>
            <a:endParaRPr lang="en-US" sz="8800" dirty="0"/>
          </a:p>
          <a:p>
            <a:pPr algn="ctr">
              <a:defRPr sz="2200" b="1">
                <a:solidFill>
                  <a:srgbClr val="22D3EE"/>
                </a:solidFill>
                <a:latin typeface="Arial"/>
              </a:defRPr>
            </a:pPr>
            <a:r>
              <a:rPr lang="en-IN" sz="2200" b="1" dirty="0">
                <a:solidFill>
                  <a:schemeClr val="bg1"/>
                </a:solidFill>
              </a:rPr>
              <a:t>We Welcome Your Questions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C5BBC2-E1A5-A05C-F9DE-4BA95853807D}"/>
              </a:ext>
            </a:extLst>
          </p:cNvPr>
          <p:cNvSpPr/>
          <p:nvPr/>
        </p:nvSpPr>
        <p:spPr>
          <a:xfrm>
            <a:off x="457200" y="621792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19BDD-1C57-37AF-8B02-33FDA2A6D445}"/>
              </a:ext>
            </a:extLst>
          </p:cNvPr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CONFIDENTIAL  |  PRIVACY-FIRST BANKING IDENTITY TRUST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D09A0-B67D-B0B2-FA3A-047EDCF346E7}"/>
              </a:ext>
            </a:extLst>
          </p:cNvPr>
          <p:cNvSpPr txBox="1"/>
          <p:nvPr/>
        </p:nvSpPr>
        <p:spPr>
          <a:xfrm>
            <a:off x="11436015" y="6309360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rPr lang="en-IN" sz="1600" dirty="0"/>
              <a:t>5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91527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692</Words>
  <Application>Microsoft Office PowerPoint</Application>
  <PresentationFormat>Widescreen</PresentationFormat>
  <Paragraphs>108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Amaan Hamid</cp:lastModifiedBy>
  <cp:revision>7</cp:revision>
  <dcterms:created xsi:type="dcterms:W3CDTF">2013-01-27T09:14:16Z</dcterms:created>
  <dcterms:modified xsi:type="dcterms:W3CDTF">2026-07-21T04:07:05Z</dcterms:modified>
  <cp:category/>
</cp:coreProperties>
</file>